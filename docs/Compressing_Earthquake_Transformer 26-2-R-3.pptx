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10287000" cx="18288000"/>
  <p:notesSz cx="10287000" cy="18288000"/>
  <p:embeddedFontLst>
    <p:embeddedFont>
      <p:font typeface="Newsreader"/>
      <p:regular r:id="rId21"/>
      <p:bold r:id="rId22"/>
      <p:italic r:id="rId23"/>
      <p:boldItalic r:id="rId24"/>
    </p:embeddedFont>
    <p:embeddedFont>
      <p:font typeface="Public Sans"/>
      <p:regular r:id="rId25"/>
      <p:bold r:id="rId26"/>
      <p:italic r:id="rId27"/>
      <p:boldItalic r:id="rId28"/>
    </p:embeddedFont>
    <p:embeddedFont>
      <p:font typeface="JetBrains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Newsreader-bold.fntdata"/><Relationship Id="rId21" Type="http://schemas.openxmlformats.org/officeDocument/2006/relationships/font" Target="fonts/Newsreader-regular.fntdata"/><Relationship Id="rId24" Type="http://schemas.openxmlformats.org/officeDocument/2006/relationships/font" Target="fonts/Newsreader-boldItalic.fntdata"/><Relationship Id="rId23" Type="http://schemas.openxmlformats.org/officeDocument/2006/relationships/font" Target="fonts/Newsreader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ublicSans-bold.fntdata"/><Relationship Id="rId25" Type="http://schemas.openxmlformats.org/officeDocument/2006/relationships/font" Target="fonts/PublicSans-regular.fntdata"/><Relationship Id="rId28" Type="http://schemas.openxmlformats.org/officeDocument/2006/relationships/font" Target="fonts/PublicSans-boldItalic.fntdata"/><Relationship Id="rId27" Type="http://schemas.openxmlformats.org/officeDocument/2006/relationships/font" Target="fonts/Public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fa95b42e8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efa95b42e8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fa95b42e8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068155b92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f068155b92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068155b92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 amt="28000"/>
          </a:blip>
          <a:srcRect b="0" l="0" r="0" t="0"/>
          <a:stretch/>
        </p:blipFill>
        <p:spPr>
          <a:xfrm>
            <a:off x="0" y="2743200"/>
            <a:ext cx="182880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73250" y="762000"/>
            <a:ext cx="2667001" cy="63207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</a:t>
            </a:r>
            <a:r>
              <a:rPr b="1" lang="en-US" sz="1800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</a:t>
            </a: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47750" y="1572633"/>
            <a:ext cx="17811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CODE 26-2-R-3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47750" y="2248908"/>
            <a:ext cx="14225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6150"/>
              <a:buFont typeface="Newsreader"/>
              <a:buNone/>
            </a:pPr>
            <a:r>
              <a:rPr b="1" i="0" lang="en-US" sz="61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Compressing the Earthquake Transformer via </a:t>
            </a:r>
            <a:r>
              <a:rPr b="1" i="0" lang="en-US" sz="61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Knowledge Distillation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47750" y="5239345"/>
            <a:ext cx="11525250" cy="5085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850"/>
              <a:buFont typeface="Newsreader"/>
              <a:buNone/>
            </a:pPr>
            <a:r>
              <a:rPr b="0" i="1" lang="en-US" sz="2850" u="none" cap="none" strike="noStrike">
                <a:solidFill>
                  <a:srgbClr val="475569"/>
                </a:solidFill>
                <a:latin typeface="Newsreader"/>
                <a:ea typeface="Newsreader"/>
                <a:cs typeface="Newsreader"/>
                <a:sym typeface="Newsreader"/>
              </a:rPr>
              <a:t>Enhancing efficiency in real-time seismic analysis.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47750" y="6319391"/>
            <a:ext cx="40531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47750" y="6709916"/>
            <a:ext cx="405315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Or Shterenshus - 207186156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047750" y="7148076"/>
            <a:ext cx="5976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Shiraz Balmas Shterenshus - 207721853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6785" y="6319391"/>
            <a:ext cx="2479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ADVISORS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316785" y="6709916"/>
            <a:ext cx="247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Dr. Elena Kramer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316785" y="7148066"/>
            <a:ext cx="247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Dr. Dan Lemberg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047750" y="8953500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047750" y="9191625"/>
            <a:ext cx="46672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Braude College of Engineering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01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</a:t>
            </a:r>
            <a:r>
              <a:rPr b="1" lang="en-US" sz="1800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</a:t>
            </a: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OVERVIEW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47750" y="1891605"/>
            <a:ext cx="17811750" cy="655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500"/>
              <a:buFont typeface="Newsreader"/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What we will cover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47750" y="2889796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047750" y="3146971"/>
            <a:ext cx="99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900"/>
              <a:buFont typeface="Newsreader"/>
              <a:buNone/>
            </a:pPr>
            <a:r>
              <a:rPr b="1" i="0" lang="en-US" sz="390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343150" y="3204121"/>
            <a:ext cx="44005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Newsreader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Background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724650" y="3237450"/>
            <a:ext cx="7398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Public Sans"/>
              <a:buNone/>
            </a:pPr>
            <a:r>
              <a:rPr lang="en-US" sz="2100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Earthquake </a:t>
            </a:r>
            <a:r>
              <a:rPr b="0" i="0" lang="en-US" sz="2100" u="none" cap="none" strike="noStrike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detection </a:t>
            </a:r>
            <a:r>
              <a:rPr lang="en-US" sz="2100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and </a:t>
            </a:r>
            <a:r>
              <a:rPr b="0" i="0" lang="en-US" sz="2100" u="none" cap="none" strike="noStrike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EQTransformer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47750" y="3889921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047750" y="4147096"/>
            <a:ext cx="99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900"/>
              <a:buFont typeface="Newsreader"/>
              <a:buNone/>
            </a:pPr>
            <a:r>
              <a:rPr b="1" i="0" lang="en-US" sz="390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343150" y="5185321"/>
            <a:ext cx="4400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Newsreader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Proposed Solution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743850" y="5213821"/>
            <a:ext cx="58131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Public Sans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Knowledge Distillation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47750" y="4890046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047750" y="5147221"/>
            <a:ext cx="99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900"/>
              <a:buFont typeface="Newsreader"/>
              <a:buNone/>
            </a:pPr>
            <a:r>
              <a:rPr b="1" i="0" lang="en-US" sz="390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343150" y="6185446"/>
            <a:ext cx="4400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Newsreader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743850" y="6218796"/>
            <a:ext cx="5151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Public Sans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Compact model and training objective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47750" y="5890171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047750" y="6147346"/>
            <a:ext cx="99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900"/>
              <a:buFont typeface="Newsreader"/>
              <a:buNone/>
            </a:pPr>
            <a:r>
              <a:rPr b="1" i="0" lang="en-US" sz="390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343150" y="6204496"/>
            <a:ext cx="44005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Newsreader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394875" y="6218746"/>
            <a:ext cx="4995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Public Sans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47750" y="7890421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047750" y="6890296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047750" y="7147471"/>
            <a:ext cx="99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900"/>
              <a:buFont typeface="Newsreader"/>
              <a:buNone/>
            </a:pPr>
            <a:r>
              <a:rPr b="1" i="0" lang="en-US" sz="390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05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343150" y="7204621"/>
            <a:ext cx="44005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Newsreader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813725" y="7197958"/>
            <a:ext cx="4329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Public Sans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Outcomes and what comes next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02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343075" y="4185196"/>
            <a:ext cx="4400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Newsreader"/>
              <a:buNone/>
            </a:pPr>
            <a:r>
              <a:rPr b="1" lang="en-US" sz="3000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743850" y="4213696"/>
            <a:ext cx="58131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Public Sans"/>
              <a:buNone/>
            </a:pPr>
            <a:r>
              <a:rPr lang="en-US" sz="2100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Existing </a:t>
            </a:r>
            <a:r>
              <a:rPr lang="en-US" sz="2100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— BACKGROUND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047750" y="1713610"/>
            <a:ext cx="8150400" cy="1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500"/>
              <a:buFont typeface="Newsreader"/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Deep learning drives modern earthquake detection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055225" y="3566315"/>
            <a:ext cx="404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554990" y="3566315"/>
            <a:ext cx="763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EQTransformer is a deep learning model for seismic signal analysis.</a:t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t/>
            </a:r>
            <a:endParaRPr b="1"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055225" y="4614065"/>
            <a:ext cx="404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554990" y="4614065"/>
            <a:ext cx="763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Detect earthquake events and identify the arrival times of the P-wave and S-wave.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55225" y="6881977"/>
            <a:ext cx="404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554990" y="5661815"/>
            <a:ext cx="763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These wave arrivals are important because they help locate and analyze earthquakes.</a:t>
            </a:r>
            <a:br>
              <a:rPr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t/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722793" y="2737247"/>
            <a:ext cx="7517457" cy="4469606"/>
          </a:xfrm>
          <a:prstGeom prst="roundRect">
            <a:avLst>
              <a:gd fmla="val 29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5218" y="3089672"/>
            <a:ext cx="6812607" cy="376475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03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055225" y="5661815"/>
            <a:ext cx="404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555028" y="6942477"/>
            <a:ext cx="763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The model also uses attention, which helps it understand the signal over time. </a:t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t/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— THE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047750" y="1870472"/>
            <a:ext cx="14668500" cy="5832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050"/>
              <a:buFont typeface="Newsreader"/>
              <a:buNone/>
            </a:pPr>
            <a:r>
              <a:rPr b="1" i="0" lang="en-US" sz="40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Heavy computation blocks edge deployment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2739479"/>
            <a:ext cx="1619250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04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— PROPOSED SOLUTION </a:t>
            </a:r>
            <a:r>
              <a:rPr b="1" lang="en-US" sz="1800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</a:t>
            </a:r>
            <a:r>
              <a:rPr b="1" lang="en-US" sz="4500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 </a:t>
            </a:r>
            <a:r>
              <a:rPr b="1" lang="en-US" sz="1800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DISTILLATION</a:t>
            </a:r>
            <a:r>
              <a:rPr b="1" lang="en-US" sz="4500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47225" y="1570310"/>
            <a:ext cx="8364900" cy="1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500"/>
              <a:buFont typeface="Newsreader"/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Distill the knowledge into a smaller model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459628" y="3148015"/>
            <a:ext cx="7850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We use the original EQTransformer as the teacher, and train a smaller student model to learn from it.</a:t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This idea is inspired by DistilBERT, where a large language model is compressed into a smaller one using the same teacher student idea.</a:t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The student learns from both the real labels and the teacher’s predictions.</a:t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t/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9931003" y="2757488"/>
            <a:ext cx="7309247" cy="4429125"/>
          </a:xfrm>
          <a:prstGeom prst="roundRect">
            <a:avLst>
              <a:gd fmla="val 30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1528" y="3148013"/>
            <a:ext cx="6528197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05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947225" y="5050650"/>
            <a:ext cx="404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947225" y="3602525"/>
            <a:ext cx="404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947225" y="6949700"/>
            <a:ext cx="404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— RESEARCH 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047750" y="2938463"/>
            <a:ext cx="17811750" cy="655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500"/>
              <a:buFont typeface="Newsreader"/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What success looks like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1047750" y="4050953"/>
            <a:ext cx="5143500" cy="2954536"/>
          </a:xfrm>
          <a:prstGeom prst="roundRect">
            <a:avLst>
              <a:gd fmla="val 451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1476375" y="4479578"/>
            <a:ext cx="4714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4800"/>
              <a:buFont typeface="Newsreader"/>
              <a:buNone/>
            </a:pPr>
            <a:r>
              <a:rPr b="1" i="0" lang="en-US" sz="480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≥50%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476375" y="5298728"/>
            <a:ext cx="4714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SMALLER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476375" y="5803553"/>
            <a:ext cx="4414838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75"/>
              <a:buFont typeface="Public Sans"/>
              <a:buNone/>
            </a:pPr>
            <a:r>
              <a:rPr b="0" i="0" lang="en-US" sz="217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Reduce model parameters by at least half.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572250" y="4050953"/>
            <a:ext cx="5143500" cy="2954536"/>
          </a:xfrm>
          <a:prstGeom prst="roundRect">
            <a:avLst>
              <a:gd fmla="val 451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7000875" y="4479578"/>
            <a:ext cx="4714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4800"/>
              <a:buFont typeface="Newsreader"/>
              <a:buNone/>
            </a:pPr>
            <a:r>
              <a:rPr b="1" i="0" lang="en-US" sz="480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≥95%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7000875" y="5298728"/>
            <a:ext cx="4714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ACCURATE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7000875" y="5803553"/>
            <a:ext cx="4414838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75"/>
              <a:buFont typeface="Public Sans"/>
              <a:buNone/>
            </a:pPr>
            <a:r>
              <a:rPr b="0" i="0" lang="en-US" sz="217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Retain detection and P/S picking performance.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2096750" y="4050953"/>
            <a:ext cx="5143500" cy="2954536"/>
          </a:xfrm>
          <a:prstGeom prst="roundRect">
            <a:avLst>
              <a:gd fmla="val 451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12525375" y="4479578"/>
            <a:ext cx="4714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4800"/>
              <a:buFont typeface="Newsreader"/>
              <a:buNone/>
            </a:pPr>
            <a:r>
              <a:rPr b="1" i="0" lang="en-US" sz="480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Edge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2525375" y="5298728"/>
            <a:ext cx="4714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2525375" y="5803553"/>
            <a:ext cx="4414838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75"/>
              <a:buFont typeface="Public Sans"/>
              <a:buNone/>
            </a:pPr>
            <a:r>
              <a:rPr b="0" i="0" lang="en-US" sz="217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Run on resource-constrained field devices.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06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— </a:t>
            </a:r>
            <a:r>
              <a:rPr b="1" lang="en-US" sz="1800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</a:t>
            </a: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PIPELINE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1047750" y="1400175"/>
            <a:ext cx="17811750" cy="578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050"/>
              <a:buFont typeface="Newsreader"/>
              <a:buNone/>
            </a:pPr>
            <a:r>
              <a:rPr b="1" i="0" lang="en-US" sz="40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From seismic input to a combined loss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2498824"/>
            <a:ext cx="161925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07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— ALGORITHM &amp; LOSS FUNCTION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1047750" y="1806342"/>
            <a:ext cx="17811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500"/>
              <a:buFont typeface="Newsreader"/>
              <a:buNone/>
            </a:pPr>
            <a:r>
              <a:rPr b="1" lang="en-US" sz="4500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Loss Function: Teacher Predictions + Real Labels 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1047750" y="2917902"/>
            <a:ext cx="16192500" cy="2167800"/>
          </a:xfrm>
          <a:prstGeom prst="roundRect">
            <a:avLst>
              <a:gd fmla="val 70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114300">
              <a:srgbClr val="1E293B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5067449" y="3670377"/>
            <a:ext cx="532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850"/>
              <a:buFont typeface="Newsreader"/>
              <a:buNone/>
            </a:pPr>
            <a:r>
              <a:rPr b="0" i="1" lang="en-US" sz="58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L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5695206" y="3670377"/>
            <a:ext cx="456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850"/>
              <a:buFont typeface="Newsreader"/>
              <a:buNone/>
            </a:pPr>
            <a:r>
              <a:rPr b="0" i="0" lang="en-US" sz="58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=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6246763" y="3537027"/>
            <a:ext cx="491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5850"/>
              <a:buFont typeface="Newsreader"/>
              <a:buNone/>
            </a:pPr>
            <a:r>
              <a:rPr b="1" i="0" lang="en-US" sz="58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α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6832997" y="3670377"/>
            <a:ext cx="264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5850"/>
              <a:buFont typeface="Newsreader"/>
              <a:buNone/>
            </a:pPr>
            <a:r>
              <a:rPr b="0" i="0" lang="en-US" sz="58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·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7192417" y="3670377"/>
            <a:ext cx="11112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5850"/>
              <a:buFont typeface="Newsreader"/>
              <a:buNone/>
            </a:pPr>
            <a:r>
              <a:rPr b="1" i="1" lang="en-US" sz="58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L</a:t>
            </a:r>
            <a:r>
              <a:rPr b="1" baseline="-25000" i="0" lang="en-US" sz="2925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KD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8398818" y="3670377"/>
            <a:ext cx="456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850"/>
              <a:buFont typeface="Newsreader"/>
              <a:buNone/>
            </a:pPr>
            <a:r>
              <a:rPr b="0" i="0" lang="en-US" sz="58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+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8950375" y="3537027"/>
            <a:ext cx="219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850"/>
              <a:buFont typeface="Newsreader"/>
              <a:buNone/>
            </a:pPr>
            <a:r>
              <a:rPr b="0" i="0" lang="en-US" sz="58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(1 − </a:t>
            </a:r>
            <a:r>
              <a:rPr b="1" i="0" lang="en-US" sz="58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α</a:t>
            </a:r>
            <a:r>
              <a:rPr b="0" i="0" lang="en-US" sz="58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)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11117759" y="3670377"/>
            <a:ext cx="264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5850"/>
              <a:buFont typeface="Newsreader"/>
              <a:buNone/>
            </a:pPr>
            <a:r>
              <a:rPr b="0" i="0" lang="en-US" sz="58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·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11477179" y="3670377"/>
            <a:ext cx="19176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850"/>
              <a:buFont typeface="Newsreader"/>
              <a:buNone/>
            </a:pPr>
            <a:r>
              <a:rPr b="0" i="1" lang="en-US" sz="58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L</a:t>
            </a:r>
            <a:r>
              <a:rPr b="0" baseline="-25000" i="0" lang="en-US" sz="2925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Student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1047750" y="5552225"/>
            <a:ext cx="393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75"/>
              <a:buFont typeface="Public Sans"/>
              <a:buNone/>
            </a:pPr>
            <a:r>
              <a:rPr b="1" i="0" lang="en-US" sz="2175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517452" y="5552225"/>
            <a:ext cx="6972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5850"/>
              <a:buFont typeface="Newsreader"/>
              <a:buNone/>
            </a:pPr>
            <a:r>
              <a:rPr b="1" i="1" lang="en-US" sz="215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L</a:t>
            </a:r>
            <a:r>
              <a:rPr b="1" baseline="-25000" lang="en-US" sz="215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KD </a:t>
            </a:r>
            <a:r>
              <a:rPr lang="en-US" sz="2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: Student learns from the teacher’s predictions.</a:t>
            </a:r>
            <a:endParaRPr sz="2175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5850"/>
              <a:buFont typeface="Newsreader"/>
              <a:buNone/>
            </a:pPr>
            <a:r>
              <a:t/>
            </a:r>
            <a:endParaRPr sz="2175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8820150" y="5552225"/>
            <a:ext cx="393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75"/>
              <a:buFont typeface="Public Sans"/>
              <a:buNone/>
            </a:pPr>
            <a:r>
              <a:rPr b="1" i="0" lang="en-US" sz="2175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9289850" y="5552225"/>
            <a:ext cx="83910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850"/>
              <a:buFont typeface="Newsreader"/>
              <a:buNone/>
            </a:pPr>
            <a:r>
              <a:rPr b="1" i="1" lang="en-US" sz="2150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L</a:t>
            </a:r>
            <a:r>
              <a:rPr b="1" baseline="-25000" lang="en-US" sz="2150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Student  </a:t>
            </a: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: Student’s predictions is compared with the real labels.</a:t>
            </a:r>
            <a:endParaRPr sz="2175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850"/>
              <a:buFont typeface="Newsreader"/>
              <a:buNone/>
            </a:pPr>
            <a:r>
              <a:t/>
            </a:r>
            <a:endParaRPr sz="2175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1047750" y="8848725"/>
            <a:ext cx="1619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14606736" y="9191625"/>
            <a:ext cx="2896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08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047750" y="6912693"/>
            <a:ext cx="393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75"/>
              <a:buFont typeface="Public Sans"/>
              <a:buNone/>
            </a:pPr>
            <a:r>
              <a:rPr b="1" i="0" lang="en-US" sz="2175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1517452" y="6912693"/>
            <a:ext cx="6972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75"/>
              <a:buFont typeface="Public Sans"/>
              <a:buNone/>
            </a:pPr>
            <a:r>
              <a:rPr b="1" i="0" lang="en-US" sz="217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α </a:t>
            </a:r>
            <a:r>
              <a:rPr i="0" lang="en-US" sz="217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r>
              <a:rPr b="1" i="0" lang="en-US" sz="217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balances teacher predictions and real labels. 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8820150" y="6912693"/>
            <a:ext cx="393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75"/>
              <a:buFont typeface="Public Sans"/>
              <a:buNone/>
            </a:pPr>
            <a:r>
              <a:rPr b="1" i="0" lang="en-US" sz="2175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9289852" y="6912693"/>
            <a:ext cx="6972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75"/>
              <a:buFont typeface="Public Sans"/>
              <a:buNone/>
            </a:pP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The student learns full probability curves for detection, P</a:t>
            </a: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-</a:t>
            </a: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pick, and S</a:t>
            </a: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-</a:t>
            </a: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pick. </a:t>
            </a:r>
            <a:endParaRPr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/>
          <p:nvPr/>
        </p:nvSpPr>
        <p:spPr>
          <a:xfrm>
            <a:off x="1047750" y="800100"/>
            <a:ext cx="17811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— ARCHITECTURES · TEACHER VS STUDENT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047750" y="1641320"/>
            <a:ext cx="178119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050"/>
              <a:buFont typeface="Newsreader"/>
              <a:buNone/>
            </a:pPr>
            <a:r>
              <a:rPr b="1" lang="en-US" sz="4050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Smaller Architecture, Same Seismic Tasks 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2907005"/>
            <a:ext cx="16192499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1"/>
          <p:cNvSpPr/>
          <p:nvPr/>
        </p:nvSpPr>
        <p:spPr>
          <a:xfrm>
            <a:off x="1047750" y="8848725"/>
            <a:ext cx="1619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/>
          <p:nvPr/>
        </p:nvSpPr>
        <p:spPr>
          <a:xfrm>
            <a:off x="14606736" y="9191625"/>
            <a:ext cx="2896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09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1047750" y="800100"/>
            <a:ext cx="17811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— DATASETS &amp; METHODOLOGY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1047750" y="1831203"/>
            <a:ext cx="17811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500"/>
              <a:buFont typeface="Newsreader"/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Train on one domain, test on another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3361663" y="3456875"/>
            <a:ext cx="10815900" cy="1979100"/>
          </a:xfrm>
          <a:prstGeom prst="roundRect">
            <a:avLst>
              <a:gd fmla="val 56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3714091" y="3689192"/>
            <a:ext cx="264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450"/>
              <a:buFont typeface="Newsreader"/>
              <a:buNone/>
            </a:pPr>
            <a:r>
              <a:rPr b="1" i="0" lang="en-US" sz="34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STEAD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5597009" y="3793735"/>
            <a:ext cx="193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PRIMARY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3714091" y="4243965"/>
            <a:ext cx="11262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Stanford seismic dataset </a:t>
            </a:r>
            <a:r>
              <a:rPr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used as our main dataset, following the original EQTransformer setup.</a:t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t/>
            </a:r>
            <a:endParaRPr b="1"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3361646" y="5881679"/>
            <a:ext cx="10815900" cy="1979100"/>
          </a:xfrm>
          <a:prstGeom prst="roundRect">
            <a:avLst>
              <a:gd fmla="val 56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3714072" y="6123873"/>
            <a:ext cx="2428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450"/>
              <a:buFont typeface="Newsreader"/>
              <a:buNone/>
            </a:pPr>
            <a:r>
              <a:rPr b="1" i="0" lang="en-US" sz="34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K-NET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5504016" y="6265586"/>
            <a:ext cx="3417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CROSS-DOMAIN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3714072" y="6864499"/>
            <a:ext cx="11262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Japanese </a:t>
            </a:r>
            <a:r>
              <a:rPr lang="en-US" sz="2250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dataset for cross-domain testing on unseen data.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t/>
            </a:r>
            <a:endParaRPr sz="2250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1047750" y="8848725"/>
            <a:ext cx="1619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/>
          <p:nvPr/>
        </p:nvSpPr>
        <p:spPr>
          <a:xfrm>
            <a:off x="14606736" y="9191625"/>
            <a:ext cx="2896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10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1047750" y="8306475"/>
            <a:ext cx="134556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75"/>
              <a:buFont typeface="Public Sans"/>
              <a:buNone/>
            </a:pPr>
            <a:r>
              <a:rPr lang="en-US" sz="2175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Checking if the student can generalize to unseen data from a different domain.</a:t>
            </a:r>
            <a:endParaRPr sz="2175">
              <a:solidFill>
                <a:srgbClr val="475569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75"/>
              <a:buFont typeface="Public Sans"/>
              <a:buNone/>
            </a:pPr>
            <a:r>
              <a:t/>
            </a:r>
            <a:endParaRPr sz="2175">
              <a:solidFill>
                <a:srgbClr val="475569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75"/>
              <a:buFont typeface="Public Sans"/>
              <a:buNone/>
            </a:pPr>
            <a:r>
              <a:t/>
            </a:r>
            <a:endParaRPr sz="2175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— PRELIMINARY VALIDATION · BASELINE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1047750" y="1829614"/>
            <a:ext cx="17811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500"/>
              <a:buFont typeface="Newsreader"/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Our baseline, measured on 100 STEAD samples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1047750" y="3275711"/>
            <a:ext cx="5143500" cy="2009700"/>
          </a:xfrm>
          <a:prstGeom prst="roundRect">
            <a:avLst>
              <a:gd fmla="val 663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1514475" y="3742436"/>
            <a:ext cx="46311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4950"/>
              <a:buFont typeface="Newsreader"/>
              <a:buNone/>
            </a:pPr>
            <a:r>
              <a:rPr b="1" i="0" lang="en-US" sz="49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373,495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1514475" y="4523486"/>
            <a:ext cx="4631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PARAMETERS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6572250" y="3275711"/>
            <a:ext cx="5143500" cy="2009700"/>
          </a:xfrm>
          <a:prstGeom prst="roundRect">
            <a:avLst>
              <a:gd fmla="val 663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7038975" y="3742436"/>
            <a:ext cx="46311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4950"/>
              <a:buFont typeface="Newsreader"/>
              <a:buNone/>
            </a:pPr>
            <a:r>
              <a:rPr b="1" i="0" lang="en-US" sz="49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~1.4 MB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7038975" y="4523486"/>
            <a:ext cx="4631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 SIZE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12096750" y="3275711"/>
            <a:ext cx="5143500" cy="2009700"/>
          </a:xfrm>
          <a:prstGeom prst="roundRect">
            <a:avLst>
              <a:gd fmla="val 663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12563475" y="3742436"/>
            <a:ext cx="46311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4950"/>
              <a:buFont typeface="Newsreader"/>
              <a:buNone/>
            </a:pPr>
            <a:r>
              <a:rPr b="1" i="0" lang="en-US" sz="49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99 / 100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12563475" y="4523486"/>
            <a:ext cx="4631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EVENTS DETECTED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047750" y="6356000"/>
            <a:ext cx="165495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75"/>
              <a:buFont typeface="Public Sans"/>
              <a:buNone/>
            </a:pPr>
            <a:r>
              <a:rPr lang="en-US" sz="2175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These numbers will be our reference point when evaluating the compressed models later.</a:t>
            </a:r>
            <a:endParaRPr sz="2175">
              <a:solidFill>
                <a:srgbClr val="475569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75">
              <a:solidFill>
                <a:srgbClr val="475569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75"/>
              <a:buFont typeface="Public Sans"/>
              <a:buNone/>
            </a:pPr>
            <a:r>
              <a:t/>
            </a:r>
            <a:endParaRPr sz="2175">
              <a:solidFill>
                <a:srgbClr val="47556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3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11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— EXPECTED CHALLENGES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1047750" y="1791476"/>
            <a:ext cx="17811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500"/>
              <a:buFont typeface="Newsreader"/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What we expect to be hard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1047750" y="3394621"/>
            <a:ext cx="16192500" cy="1219200"/>
          </a:xfrm>
          <a:prstGeom prst="roundRect">
            <a:avLst>
              <a:gd fmla="val 109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1E293B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1476375" y="3747046"/>
            <a:ext cx="70425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4050"/>
              <a:buFont typeface="Newsreader"/>
              <a:buNone/>
            </a:pPr>
            <a:r>
              <a:rPr b="1" i="0" lang="en-US" sz="40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2409230" y="3804940"/>
            <a:ext cx="10034171" cy="436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Keeping </a:t>
            </a:r>
            <a:r>
              <a:rPr b="1"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P/S picking</a:t>
            </a:r>
            <a:r>
              <a:rPr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 accurate while shrinking the model .</a:t>
            </a:r>
            <a:endParaRPr sz="2325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2325"/>
              <a:buFont typeface="Public Sans"/>
              <a:buNone/>
            </a:pPr>
            <a:r>
              <a:t/>
            </a:r>
            <a:endParaRPr sz="2325">
              <a:solidFill>
                <a:srgbClr val="1E293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1047750" y="4880521"/>
            <a:ext cx="16192500" cy="1219200"/>
          </a:xfrm>
          <a:prstGeom prst="roundRect">
            <a:avLst>
              <a:gd fmla="val 109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1E293B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1476375" y="5232946"/>
            <a:ext cx="70425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4050"/>
              <a:buFont typeface="Newsreader"/>
              <a:buNone/>
            </a:pPr>
            <a:r>
              <a:rPr b="1" i="0" lang="en-US" sz="40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2409230" y="5290840"/>
            <a:ext cx="9715589" cy="436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25"/>
              <a:buFont typeface="Public Sans"/>
              <a:buNone/>
            </a:pPr>
            <a:r>
              <a:rPr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Choosing </a:t>
            </a:r>
            <a:r>
              <a:rPr b="1"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which layers</a:t>
            </a:r>
            <a:r>
              <a:rPr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 to remove using an ablation study. 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1047750" y="6366421"/>
            <a:ext cx="16192500" cy="1219200"/>
          </a:xfrm>
          <a:prstGeom prst="roundRect">
            <a:avLst>
              <a:gd fmla="val 109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1E293B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1476375" y="6718846"/>
            <a:ext cx="70425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4050"/>
              <a:buFont typeface="Newsreader"/>
              <a:buNone/>
            </a:pPr>
            <a:r>
              <a:rPr b="1" i="0" lang="en-US" sz="40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2409230" y="6776740"/>
            <a:ext cx="8275097" cy="436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25"/>
              <a:buFont typeface="Public Sans"/>
              <a:buNone/>
            </a:pPr>
            <a:r>
              <a:rPr b="1" i="0" lang="en-US" sz="232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Generalization </a:t>
            </a:r>
            <a:r>
              <a:rPr b="0" i="0" lang="en-US" sz="232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to unseen data from a different domain.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4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12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— EVALUATION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1047750" y="1703428"/>
            <a:ext cx="17811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500"/>
              <a:buFont typeface="Newsreader"/>
              <a:buNone/>
            </a:pPr>
            <a:r>
              <a:rPr b="1" lang="en-US" sz="4500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Measured by accuracy and computational efficiency 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1047750" y="3213646"/>
            <a:ext cx="7886700" cy="4552950"/>
          </a:xfrm>
          <a:prstGeom prst="roundRect">
            <a:avLst>
              <a:gd fmla="val 3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1476375" y="3661321"/>
            <a:ext cx="133350" cy="323850"/>
          </a:xfrm>
          <a:prstGeom prst="roundRect">
            <a:avLst>
              <a:gd fmla="val 28571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1781175" y="3642271"/>
            <a:ext cx="42013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50"/>
              <a:buFont typeface="Newsreader"/>
              <a:buNone/>
            </a:pPr>
            <a:r>
              <a:rPr b="1" lang="en-US" sz="2850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Prediction Accuracy 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1476375" y="4270921"/>
            <a:ext cx="3429000" cy="1447800"/>
          </a:xfrm>
          <a:prstGeom prst="roundRect">
            <a:avLst>
              <a:gd fmla="val 7895" name="adj"/>
            </a:avLst>
          </a:prstGeom>
          <a:solidFill>
            <a:srgbClr val="EF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1724025" y="4518571"/>
            <a:ext cx="322707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Precision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1724025" y="4937671"/>
            <a:ext cx="30217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True-positive rate of detections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5076825" y="4270921"/>
            <a:ext cx="3429000" cy="1447800"/>
          </a:xfrm>
          <a:prstGeom prst="roundRect">
            <a:avLst>
              <a:gd fmla="val 7895" name="adj"/>
            </a:avLst>
          </a:prstGeom>
          <a:solidFill>
            <a:srgbClr val="EF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5324475" y="4518571"/>
            <a:ext cx="322707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Recall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5324475" y="4937671"/>
            <a:ext cx="30217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Events successfully detected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1476375" y="5890171"/>
            <a:ext cx="3429000" cy="1447800"/>
          </a:xfrm>
          <a:prstGeom prst="roundRect">
            <a:avLst>
              <a:gd fmla="val 7895" name="adj"/>
            </a:avLst>
          </a:prstGeom>
          <a:solidFill>
            <a:srgbClr val="EF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1724025" y="6137821"/>
            <a:ext cx="322707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F1-Score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1724025" y="6556921"/>
            <a:ext cx="30217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Balance of precision &amp; recall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5076825" y="5890171"/>
            <a:ext cx="3429000" cy="1447800"/>
          </a:xfrm>
          <a:prstGeom prst="roundRect">
            <a:avLst>
              <a:gd fmla="val 7895" name="adj"/>
            </a:avLst>
          </a:prstGeom>
          <a:solidFill>
            <a:srgbClr val="EF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5324475" y="6137821"/>
            <a:ext cx="322707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MAE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5324475" y="6556921"/>
            <a:ext cx="322707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P/S arrival-time error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9353550" y="3213646"/>
            <a:ext cx="7886700" cy="4552950"/>
          </a:xfrm>
          <a:prstGeom prst="roundRect">
            <a:avLst>
              <a:gd fmla="val 3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9782175" y="3661321"/>
            <a:ext cx="133350" cy="323850"/>
          </a:xfrm>
          <a:prstGeom prst="roundRect">
            <a:avLst>
              <a:gd fmla="val 2857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10086975" y="3642271"/>
            <a:ext cx="455362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50"/>
              <a:buFont typeface="Newsreader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Computational Efficiency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9782175" y="4270921"/>
            <a:ext cx="3429000" cy="1181100"/>
          </a:xfrm>
          <a:prstGeom prst="roundRect">
            <a:avLst>
              <a:gd fmla="val 967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10029825" y="4518571"/>
            <a:ext cx="322707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Model Size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10029825" y="4937671"/>
            <a:ext cx="322707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Parameters &amp; MB on disk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13382625" y="4270921"/>
            <a:ext cx="3429000" cy="1181100"/>
          </a:xfrm>
          <a:prstGeom prst="roundRect">
            <a:avLst>
              <a:gd fmla="val 967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13630275" y="4518571"/>
            <a:ext cx="322707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Inference Time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13630275" y="4937671"/>
            <a:ext cx="322707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Latency per record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9782175" y="5623471"/>
            <a:ext cx="7029450" cy="1181100"/>
          </a:xfrm>
          <a:prstGeom prst="roundRect">
            <a:avLst>
              <a:gd fmla="val 967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10029825" y="5871121"/>
            <a:ext cx="71875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RAM Usage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0029825" y="6290221"/>
            <a:ext cx="718756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Peak memory at runtime on edge hardware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5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13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— TESTING &amp; VALIDATION PLAN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1047750" y="1594857"/>
            <a:ext cx="1781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200"/>
              <a:buFont typeface="Newsreader"/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Three phases from training to trade-off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2770509"/>
            <a:ext cx="16192502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6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6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14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967826" y="7498156"/>
            <a:ext cx="393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75"/>
              <a:buFont typeface="Public Sans"/>
              <a:buNone/>
            </a:pPr>
            <a:r>
              <a:rPr b="1" i="0" lang="en-US" sz="2175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1437527" y="7498163"/>
            <a:ext cx="42558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75"/>
              <a:buFont typeface="Public Sans"/>
              <a:buNone/>
            </a:pP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Compare basic performance with the EQTransformer. </a:t>
            </a:r>
            <a:endParaRPr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6642628" y="7498156"/>
            <a:ext cx="393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75"/>
              <a:buFont typeface="Public Sans"/>
              <a:buNone/>
            </a:pPr>
            <a:r>
              <a:rPr b="1" i="0" lang="en-US" sz="2175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7112329" y="7498163"/>
            <a:ext cx="42558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75"/>
              <a:buFont typeface="Public Sans"/>
              <a:buNone/>
            </a:pP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Test on unseen data from a different source. </a:t>
            </a:r>
            <a:endParaRPr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12265893" y="7498156"/>
            <a:ext cx="393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75"/>
              <a:buFont typeface="Public Sans"/>
              <a:buNone/>
            </a:pPr>
            <a:r>
              <a:rPr b="1" i="0" lang="en-US" sz="2175" u="none" cap="none" strike="noStrike">
                <a:solidFill>
                  <a:srgbClr val="1D4ED8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12735601" y="7498175"/>
            <a:ext cx="4722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75"/>
              <a:buFont typeface="Public Sans"/>
              <a:buNone/>
            </a:pP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Compare </a:t>
            </a: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different</a:t>
            </a:r>
            <a:r>
              <a:rPr lang="en-US" sz="217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 student versions and choose the best trade-off. </a:t>
            </a:r>
            <a:endParaRPr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— SUMMARY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1047750" y="1647034"/>
            <a:ext cx="178119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350"/>
              <a:buFont typeface="Newsreader"/>
              <a:buNone/>
            </a:pPr>
            <a:r>
              <a:rPr b="1" i="0" lang="en-US" sz="435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Key takeaways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047750" y="3350295"/>
            <a:ext cx="6111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450"/>
              <a:buFont typeface="Newsreader"/>
              <a:buNone/>
            </a:pPr>
            <a:r>
              <a:rPr b="1" i="0" lang="en-US" sz="34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1849487" y="3446735"/>
            <a:ext cx="1142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25"/>
              <a:buFont typeface="Public Sans"/>
              <a:buNone/>
            </a:pPr>
            <a:r>
              <a:rPr b="1"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Compress </a:t>
            </a:r>
            <a:r>
              <a:rPr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EQTransformer</a:t>
            </a:r>
            <a:r>
              <a:rPr b="1"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using</a:t>
            </a:r>
            <a:r>
              <a:rPr b="1"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 Knowledge Distillation 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1047750" y="4170338"/>
            <a:ext cx="6111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450"/>
              <a:buFont typeface="Newsreader"/>
              <a:buNone/>
            </a:pPr>
            <a:r>
              <a:rPr b="1" i="0" lang="en-US" sz="34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1849474" y="4266780"/>
            <a:ext cx="110643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25"/>
              <a:buFont typeface="Public Sans"/>
              <a:buNone/>
            </a:pPr>
            <a:r>
              <a:rPr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Targets: At least 50% size reduction and 95% of the original accuracy retained. </a:t>
            </a:r>
            <a:endParaRPr i="0" sz="2325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1047750" y="4990381"/>
            <a:ext cx="6111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450"/>
              <a:buFont typeface="Newsreader"/>
              <a:buNone/>
            </a:pPr>
            <a:r>
              <a:rPr b="1" i="0" lang="en-US" sz="345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1849487" y="5086821"/>
            <a:ext cx="7394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25"/>
              <a:buFont typeface="Public Sans"/>
              <a:buNone/>
            </a:pPr>
            <a:r>
              <a:rPr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Train </a:t>
            </a:r>
            <a:r>
              <a:rPr b="0" i="0" lang="en-US" sz="232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across </a:t>
            </a:r>
            <a:r>
              <a:rPr b="1" i="0" lang="en-US" sz="232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STEAD </a:t>
            </a:r>
            <a:r>
              <a:rPr b="0" i="0" lang="en-US" sz="232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and </a:t>
            </a:r>
            <a:r>
              <a:rPr lang="en-US" sz="2325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v</a:t>
            </a:r>
            <a:r>
              <a:rPr b="0" i="0" lang="en-US" sz="232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alidate on unseen </a:t>
            </a:r>
            <a:r>
              <a:rPr b="1" i="0" lang="en-US" sz="232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K-NET </a:t>
            </a:r>
            <a:r>
              <a:rPr b="0" i="0" lang="en-US" sz="2325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data.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1047750" y="6539900"/>
            <a:ext cx="16192500" cy="1404000"/>
          </a:xfrm>
          <a:prstGeom prst="roundRect">
            <a:avLst>
              <a:gd fmla="val 10856" name="adj"/>
            </a:avLst>
          </a:prstGeom>
          <a:solidFill>
            <a:srgbClr val="FFFFFF"/>
          </a:solidFill>
          <a:ln>
            <a:noFill/>
          </a:ln>
          <a:effectLst>
            <a:outerShdw blurRad="285750" rotWithShape="0" algn="bl" dir="5400000" dist="95250">
              <a:srgbClr val="1E293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50">
              <a:solidFill>
                <a:srgbClr val="1E293B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047750" y="7934270"/>
            <a:ext cx="1619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50">
              <a:solidFill>
                <a:srgbClr val="1E293B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1047750" y="6539900"/>
            <a:ext cx="1619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1047750" y="6539900"/>
            <a:ext cx="57300" cy="1404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17230725" y="6539900"/>
            <a:ext cx="9600" cy="140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1638300" y="7006653"/>
            <a:ext cx="16564800" cy="23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850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The final goal is a smaller, efficient, and accurate model for</a:t>
            </a:r>
            <a:r>
              <a:rPr b="1" lang="en-US" sz="2850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 real-time seismic monitoring.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2850"/>
              <a:buFont typeface="Newsreader"/>
              <a:buNone/>
            </a:pPr>
            <a:r>
              <a:t/>
            </a:r>
            <a:endParaRPr i="1" sz="2850">
              <a:solidFill>
                <a:srgbClr val="1E293B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7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15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"/>
          <p:cNvSpPr/>
          <p:nvPr/>
        </p:nvSpPr>
        <p:spPr>
          <a:xfrm>
            <a:off x="1047750" y="800100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 — THANK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1047750" y="3148013"/>
            <a:ext cx="1781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100"/>
              <a:buFont typeface="Newsreader"/>
              <a:buNone/>
            </a:pPr>
            <a:r>
              <a:rPr b="1" i="0" lang="en-US" sz="8100" u="none" cap="none" strike="noStrike">
                <a:solidFill>
                  <a:srgbClr val="1E293B"/>
                </a:solidFill>
                <a:latin typeface="Newsreader"/>
                <a:ea typeface="Newsreader"/>
                <a:cs typeface="Newsreader"/>
                <a:sym typeface="Newsreader"/>
              </a:rPr>
              <a:t>Thank you</a:t>
            </a:r>
            <a:r>
              <a:rPr b="1" i="0" lang="en-US" sz="8100" u="none" cap="none" strike="noStrike">
                <a:solidFill>
                  <a:srgbClr val="1D4ED8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  <a:endParaRPr b="0" i="0" sz="8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1047750" y="4633913"/>
            <a:ext cx="17811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Questions &amp; discussion welcome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1047750" y="5624513"/>
            <a:ext cx="40531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1047750" y="6015038"/>
            <a:ext cx="405315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Or Shterenshus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1047750" y="6453188"/>
            <a:ext cx="405315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Shiraz Balmas Shterenshus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5494437" y="5624513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6265962" y="5624513"/>
            <a:ext cx="247956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ADVISORS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6265962" y="6015038"/>
            <a:ext cx="247956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Dr. Elena Kramer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6265962" y="6453188"/>
            <a:ext cx="247956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Dr. Dan Lemberg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9282113" y="5624513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"/>
          <p:cNvSpPr/>
          <p:nvPr/>
        </p:nvSpPr>
        <p:spPr>
          <a:xfrm>
            <a:off x="10053638" y="5624513"/>
            <a:ext cx="283039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10053638" y="6015038"/>
            <a:ext cx="28303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26-2-R-3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10053638" y="6453188"/>
            <a:ext cx="28303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Public Sans"/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ublic Sans"/>
                <a:ea typeface="Public Sans"/>
                <a:cs typeface="Public Sans"/>
                <a:sym typeface="Public Sans"/>
              </a:rPr>
              <a:t>Phase 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1047750" y="8848725"/>
            <a:ext cx="1619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8969722"/>
            <a:ext cx="1619250" cy="3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8"/>
          <p:cNvSpPr/>
          <p:nvPr/>
        </p:nvSpPr>
        <p:spPr>
          <a:xfrm>
            <a:off x="14606736" y="9191625"/>
            <a:ext cx="2896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26-2-R-3 · 16 /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18"/>
          <p:cNvPicPr preferRelativeResize="0"/>
          <p:nvPr/>
        </p:nvPicPr>
        <p:blipFill rotWithShape="1">
          <a:blip r:embed="rId4">
            <a:alphaModFix amt="28000"/>
          </a:blip>
          <a:srcRect b="0" l="0" r="0" t="0"/>
          <a:stretch/>
        </p:blipFill>
        <p:spPr>
          <a:xfrm>
            <a:off x="0" y="2743200"/>
            <a:ext cx="182880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